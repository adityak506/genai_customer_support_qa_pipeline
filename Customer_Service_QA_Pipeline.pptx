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Segoe UI"/>
              </a:defRPr>
            </a:pPr>
            <a:r>
              <a:t>AUTOMATING CUSTOMER SERVICE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0">
                <a:solidFill>
                  <a:srgbClr val="0D9488"/>
                </a:solidFill>
                <a:latin typeface="Segoe UI"/>
              </a:defRPr>
            </a:pPr>
            <a:r>
              <a:t>A Modular, GenAI-Powered Evaluation &amp; Reporting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Built using LangChain Expression Language (LCEL), Pydantic validation,</a:t>
            </a:r>
            <a:br/>
            <a:r>
              <a:t>and multi-LLM (OpenAI &amp; Gemini) routing.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Segoe UI"/>
              </a:defRPr>
            </a:pPr>
            <a: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The Customer Support QA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The Status Quo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91440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Manual Auditing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Managers spend hours listening to calls, creating immense operational overhead.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50292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474720"/>
            <a:ext cx="91440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1-2% Sampling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319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QA checks miss critical billing claims, customer complaints, and compliance risks.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50292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846320"/>
            <a:ext cx="91440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983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Subjective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035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Evaluation scoring varies between managers, leaving agents with inconsistent training inputs.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Segoe UI"/>
              </a:defRPr>
            </a:pPr>
            <a:r>
              <a:t>The Automated Vision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103120"/>
            <a:ext cx="50292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103120"/>
            <a:ext cx="91440" cy="1188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2402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4F46E5"/>
                </a:solidFill>
                <a:latin typeface="Segoe UI"/>
              </a:defRPr>
            </a:pPr>
            <a:r>
              <a:t>100% Audit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5603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Generative AI automatically processes every transcript instantly, missing zero details.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474720"/>
            <a:ext cx="50292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474720"/>
            <a:ext cx="91440" cy="1188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611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4F46E5"/>
                </a:solidFill>
                <a:latin typeface="Segoe UI"/>
              </a:defRPr>
            </a:pPr>
            <a:r>
              <a:t>Objective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9319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Every call is evaluated against unified prompts for Tone, Empathy, Knowledge, and Resolution.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846320"/>
            <a:ext cx="50292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846320"/>
            <a:ext cx="91440" cy="1188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983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4F46E5"/>
                </a:solidFill>
                <a:latin typeface="Segoe UI"/>
              </a:defRPr>
            </a:pPr>
            <a:r>
              <a:t>Continuous Feedback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3035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Standardized spreadsheets log agent ratings and specific training actions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Segoe UI"/>
              </a:defRPr>
            </a:pPr>
            <a:r>
              <a:t>TECHNICAL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System Architecture &amp; Execution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9202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1920240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77440"/>
            <a:ext cx="365760" cy="365760"/>
          </a:xfrm>
          <a:prstGeom prst="ellipse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1.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1554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Loads customer support transcripts from Excel/CSV and boots custom configuration files.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24912" y="3749039"/>
            <a:ext cx="109728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2103120"/>
            <a:ext cx="19202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2103120"/>
            <a:ext cx="192024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08960" y="2377440"/>
            <a:ext cx="365760" cy="365760"/>
          </a:xfrm>
          <a:prstGeom prst="ellipse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4231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9260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2. CLASSIFY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566160"/>
            <a:ext cx="1554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An initial LLM pass classifies the call (e.g. billing, claims, complaint, query).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19472" y="3749039"/>
            <a:ext cx="109728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2103120"/>
            <a:ext cx="19202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2103120"/>
            <a:ext cx="1920240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03520" y="2377440"/>
            <a:ext cx="365760" cy="365760"/>
          </a:xfrm>
          <a:prstGeom prst="ellipse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24231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9260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3.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566160"/>
            <a:ext cx="1554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A dynamic router checks the predicted call category to assign a customized scoring checklist.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14032" y="3749039"/>
            <a:ext cx="109728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0" y="2103120"/>
            <a:ext cx="19202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0" y="2103120"/>
            <a:ext cx="192024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98080" y="2377440"/>
            <a:ext cx="365760" cy="365760"/>
          </a:xfrm>
          <a:prstGeom prst="ellipse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0" y="24231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29260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4. 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3566160"/>
            <a:ext cx="1554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Specific parallel chains score agent tone, factual accuracy, and issue resolution quality.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308592" y="3749039"/>
            <a:ext cx="109728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09760" y="2103120"/>
            <a:ext cx="19202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09760" y="2103120"/>
            <a:ext cx="1920240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92640" y="2377440"/>
            <a:ext cx="365760" cy="365760"/>
          </a:xfrm>
          <a:prstGeom prst="ellipse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24231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9260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5. REPORTING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3566160"/>
            <a:ext cx="1554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Summarizes criteria scores and outputs actionable feedback records straight to Excel.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Segoe UI"/>
              </a:defRPr>
            </a:pPr>
            <a:r>
              <a:t>DYNAMIC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Smart Routing: Token &amp; Context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4754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37160" cy="4114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Why Route Dynamically?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0233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Running every evaluator on every single call transcript is highly wasteful and injects noise.</a:t>
            </a:r>
            <a:br/>
            <a:br/>
            <a:r>
              <a:t>• Billing calls do not benefit from a detailed empathy audit.</a:t>
            </a:r>
            <a:br/>
            <a:r>
              <a:t>• Complex complaints require sensitive tone monitoring.</a:t>
            </a:r>
            <a:br/>
            <a:r>
              <a:t>• Simple FAQs only require knowledge accuracy verification.</a:t>
            </a:r>
            <a:br/>
            <a:br/>
            <a:r>
              <a:t>By classifying first and routing transcripts dynamically, the system reduces LLM token costs by up to 50% and improves the relevancy of QA scores.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554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Category Scoring Configurations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92024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0" y="2240280"/>
            <a:ext cx="274320" cy="2743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0574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Billing &amp; Claims Inquiry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3774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Segoe UI"/>
              </a:defRPr>
            </a:pPr>
            <a:r>
              <a:t>Knowledge Accuracy + Issue Resolution 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97180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17920" y="3291840"/>
            <a:ext cx="274320" cy="2743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108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Customer Complaint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4290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Segoe UI"/>
              </a:defRPr>
            </a:pPr>
            <a:r>
              <a:t>Tone &amp; Empathy + Issue Resolution Quality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402336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17920" y="4343400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1605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General Queries / FAQ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4805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Segoe UI"/>
              </a:defRPr>
            </a:pPr>
            <a:r>
              <a:t>Knowledge Accuracy (Factual Precision Only)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507492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7920" y="5394960"/>
            <a:ext cx="274320" cy="274320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5212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Fallback / Others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5321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Segoe UI"/>
              </a:defRPr>
            </a:pPr>
            <a:r>
              <a:t>Knowledge Accuracy (Default Safety Catch)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Segoe UI"/>
              </a:defRPr>
            </a:pPr>
            <a:r>
              <a:t>ENGINEERING FOOTPRINT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Engineered for Enterprise Reliability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38328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LangChain Expression Language (LCEL)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26080"/>
            <a:ext cx="292608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The pipeline is assembled using LCEL's declarative syntax:</a:t>
            </a:r>
            <a:br/>
            <a:r>
              <a:t>`chain = prompt | llm | parser`.</a:t>
            </a:r>
            <a:br/>
            <a:br/>
            <a:r>
              <a:t>This design enables:</a:t>
            </a:r>
            <a:br/>
            <a:r>
              <a:t>• Seamless custom template bindings.</a:t>
            </a:r>
            <a:br/>
            <a:r>
              <a:t>• Easy parallel pipeline branches.</a:t>
            </a:r>
            <a:br/>
            <a:r>
              <a:t>• Structured fallbacks and retry behaviors.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2011680"/>
            <a:ext cx="338328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2860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Pydantic Structured 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926080"/>
            <a:ext cx="292608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Relying on LLM text output is highly fragile in production.</a:t>
            </a:r>
            <a:br/>
            <a:br/>
            <a:r>
              <a:t>• The system binds a strict schema via Pydantic BaseModel.</a:t>
            </a:r>
            <a:br/>
            <a:r>
              <a:t>• Generates structured JSON outputs representing scores, categories, and justifications.</a:t>
            </a:r>
            <a:br/>
            <a:r>
              <a:t>• Eliminates regex cleaning or string parsing code completely.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383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2011680"/>
            <a:ext cx="338328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2860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Multi-Provider Agility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926080"/>
            <a:ext cx="292608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Infrastructure flexibility is built directly into the core code.</a:t>
            </a:r>
            <a:br/>
            <a:br/>
            <a:r>
              <a:t>• Supported providers: OpenAI (GPT-4o-mini) and Google Gemini (Gemini 1.5 Flash).</a:t>
            </a:r>
            <a:br/>
            <a:r>
              <a:t>• Configuration changes are fully decoupled from logic via config.json.</a:t>
            </a:r>
            <a:br/>
            <a:r>
              <a:t>• Facilitates cost-optimization and local LLM migrations.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Segoe UI"/>
              </a:defRPr>
            </a:pPr>
            <a: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Actionable Reporting &amp; Excel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The Manager Report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43891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Once evaluation scores (1-5) and reasoning justifications are generated, the system passes the logs to a Final Executive QA Manager Chain.</a:t>
            </a:r>
            <a:br/>
            <a:br/>
            <a:r>
              <a:t>This component distills raw evaluations into:</a:t>
            </a:r>
            <a:br/>
            <a:r>
              <a:t>1. Performance Summary: A professional, context-rich performance report of the agent's work.</a:t>
            </a:r>
            <a:br/>
            <a:r>
              <a:t>2. Actionable Recommendations: A clear, bulleted checklist detailing training points for the agent.</a:t>
            </a:r>
            <a:br/>
            <a:br/>
            <a:r>
              <a:t>This translates metric raw scores directly into operational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Segoe UI"/>
              </a:defRPr>
            </a:pPr>
            <a:r>
              <a:t>Batch Processing &amp; Data Export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651760"/>
            <a:ext cx="43891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The entire dataset is consolidated and exported to an Excel sheet (data/output.xlsx) containing:</a:t>
            </a:r>
            <a:br/>
            <a:r>
              <a:t>• Predicted Call Categories &amp; Confidences.</a:t>
            </a:r>
            <a:br/>
            <a:r>
              <a:t>• Detailed Criteria Scores (Empathy, Accuracy, Resolution).</a:t>
            </a:r>
            <a:br/>
            <a:r>
              <a:t>• Written Manager Summaries &amp; Actionable Recommendations.</a:t>
            </a:r>
            <a:br/>
            <a:br/>
            <a:r>
              <a:t>🔒 Error Tolerant design: The pipeline includes explicit file-lock catch boundaries (e.g. checking for Windows Excel lock errors) to avoid data corruption or write failures.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"/>
              </a:defRPr>
            </a:pPr>
            <a:r>
              <a:t>Operational Benefits &amp;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9728" cy="1645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100% Quality Auditing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94A3B8"/>
                </a:solidFill>
                <a:latin typeface="Segoe UI"/>
              </a:defRPr>
            </a:pPr>
            <a:r>
              <a:t>Enables auditing of all customer support logs, eliminating sampling errors completely.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292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109728" cy="1645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01168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Standardized Agent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46888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94A3B8"/>
                </a:solidFill>
                <a:latin typeface="Segoe UI"/>
              </a:defRPr>
            </a:pPr>
            <a:r>
              <a:t>Unifies grading criteria to ensure feedback transparency and build agent trust.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0292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9728" cy="1645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1480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Token &amp; API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7200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94A3B8"/>
                </a:solidFill>
                <a:latin typeface="Segoe UI"/>
              </a:defRPr>
            </a:pPr>
            <a:r>
              <a:t>Smart classification and routing avoids running wasteful chains on simple inquiries.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931920"/>
            <a:ext cx="50292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931920"/>
            <a:ext cx="109728" cy="1645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11480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Provider Independence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57200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94A3B8"/>
                </a:solidFill>
                <a:latin typeface="Segoe UI"/>
              </a:defRPr>
            </a:pPr>
            <a:r>
              <a:t>Decoupled architecture makes it simple to swap model vendors (OpenAI/Gemini/Local LLMs).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